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A2B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-1371600"/>
            <a:ext cx="5486400" cy="5486400"/>
          </a:xfrm>
          <a:prstGeom prst="ellipse">
            <a:avLst/>
          </a:prstGeom>
          <a:solidFill>
            <a:srgbClr val="1B4F8A">
              <a:alpha val="20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3200400" cy="3200400"/>
          </a:xfrm>
          <a:prstGeom prst="ellipse">
            <a:avLst/>
          </a:prstGeom>
          <a:solidFill>
            <a:srgbClr val="0E7C7B">
              <a:alpha val="18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05A2B"/>
                </a:solidFill>
              </a:rPr>
              <a:t>PARTS &amp; SERVICE BUSINESS CASE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6858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Growth Strategy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&amp; Revenue Roadmap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99923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Data-backed recommendations to capture $49M in untapped market opportunity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11880"/>
            <a:ext cx="2926080" cy="36576"/>
          </a:xfrm>
          <a:prstGeom prst="rect">
            <a:avLst/>
          </a:prstGeom>
          <a:solidFill>
            <a:srgbClr val="E05A2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913632"/>
            <a:ext cx="1938528" cy="932688"/>
          </a:xfrm>
          <a:prstGeom prst="rect">
            <a:avLst/>
          </a:prstGeom>
          <a:solidFill>
            <a:srgbClr val="1B4F8A">
              <a:alpha val="4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3192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A228"/>
                </a:solidFill>
              </a:rPr>
              <a:t>$103M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57200" y="43434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Total Market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Opportunity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33472" y="3913632"/>
            <a:ext cx="1938528" cy="932688"/>
          </a:xfrm>
          <a:prstGeom prst="rect">
            <a:avLst/>
          </a:prstGeom>
          <a:solidFill>
            <a:srgbClr val="1B4F8A">
              <a:alpha val="4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33472" y="393192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A228"/>
                </a:solidFill>
              </a:rPr>
              <a:t>52.5%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633472" y="43434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Current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POPS-C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9744" y="3913632"/>
            <a:ext cx="1938528" cy="932688"/>
          </a:xfrm>
          <a:prstGeom prst="rect">
            <a:avLst/>
          </a:prstGeom>
          <a:solidFill>
            <a:srgbClr val="1B4F8A">
              <a:alpha val="4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393192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A228"/>
                </a:solidFill>
              </a:rPr>
              <a:t>$49M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809744" y="43434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Untapped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Revenue Gap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86016" y="3913632"/>
            <a:ext cx="1938528" cy="932688"/>
          </a:xfrm>
          <a:prstGeom prst="rect">
            <a:avLst/>
          </a:prstGeom>
          <a:solidFill>
            <a:srgbClr val="1B4F8A">
              <a:alpha val="4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86016" y="3931920"/>
            <a:ext cx="1938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4A228"/>
                </a:solidFill>
              </a:rPr>
              <a:t>7,859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986016" y="43434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Customers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Analyzed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EXECUTIVE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What the data tells us — and what to do about 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109728" cy="1737360"/>
          </a:xfrm>
          <a:prstGeom prst="rect">
            <a:avLst/>
          </a:prstGeom>
          <a:solidFill>
            <a:srgbClr val="E05A2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2070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A2B"/>
                </a:solidFill>
              </a:rPr>
              <a:t>⚠  $49M Revenue Gap Identified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61848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Only 52.5% of the $103M total market opportunity is being captured. 5,807 customers have zero recorded sales despite measurable opportunity.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115568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15568"/>
            <a:ext cx="109728" cy="1737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910328" y="12070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🎯  DIM Segment = Single Biggest Lever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0328" y="161848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6,479 'Do It Myself' customers hold $67.8M in untapped opportunity at just 13.5% POPS-C. Converting even half unlocks $30M+.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90088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90088"/>
            <a:ext cx="109728" cy="173736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0815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8A"/>
                </a:solidFill>
              </a:rPr>
              <a:t>📍  3 Cities Drive 65% of the Gap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349300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Ankara ($18.2M), Izmir ($7.7M) and Istanbul ($6.2M) together account for $32.1M of the $49M gap. Concentrate resources here first.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990088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990088"/>
            <a:ext cx="109728" cy="17373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4910328" y="30815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</a:rPr>
              <a:t>🔧  Labor &amp; Hydraulics Are the Priority Categories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0328" y="3493008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Labor: $19.2M gap at 37% POPS-C. Hydraulics: $9.7M gap at 31% POPS-C. Two categories alone = 59% of all parts/service gap.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  Analysis based on 10,165 PTOS records merged with Equipment Fleet &amp; Sales Channel data across 9 Turkish regions.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CUSTOMER SEGMENT ANALYSIS — Opportunity vs. Sales Gap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5778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777240"/>
            <a:ext cx="2834640" cy="365760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868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1B2A"/>
                </a:solidFill>
              </a:rPr>
              <a:t>SEGMENT BREAKDOWN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80760" y="1261872"/>
            <a:ext cx="26517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80760" y="1261872"/>
            <a:ext cx="91440" cy="89611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6236208" y="131673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</a:rPr>
              <a:t>Do It Myself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36208" y="153619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6,479 customers  •  POPS-C: 13.5%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36208" y="17556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Gap: $67.8M  —  Highest urgency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080760" y="2267712"/>
            <a:ext cx="26517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80760" y="2267712"/>
            <a:ext cx="91440" cy="89611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1"/>
          <p:cNvSpPr/>
          <p:nvPr/>
        </p:nvSpPr>
        <p:spPr>
          <a:xfrm>
            <a:off x="6236208" y="232257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C7B"/>
                </a:solidFill>
              </a:rPr>
              <a:t>Work With Me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36208" y="25420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162 customers  •  POPS-C: 78.9%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36208" y="276148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Gap: $2.6M  —  Retain &amp; upsell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80760" y="3273552"/>
            <a:ext cx="26517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80760" y="3273552"/>
            <a:ext cx="91440" cy="89611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9" name="Text 16"/>
          <p:cNvSpPr/>
          <p:nvPr/>
        </p:nvSpPr>
        <p:spPr>
          <a:xfrm>
            <a:off x="6236208" y="3328416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7A4A"/>
                </a:solidFill>
              </a:rPr>
              <a:t>Do It For Me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236208" y="354787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328 customers  •  POPS-C: 113.3%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36208" y="376732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Gap: Exceeded  —  Monitor only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0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⚡  DIM segment alone holds 69% of all untapped revenue. Converting from 13.5% → 25% POPS-C adds $9M annually.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GEOGRAPHIC ANALYSIS — Revenue Gap by Region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5778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777240"/>
            <a:ext cx="2834640" cy="365760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868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1B2A"/>
                </a:solidFill>
              </a:rPr>
              <a:t>REGIONAL PRIORITIES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80760" y="1261872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72200" y="12984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Ankara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60920" y="129844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HIGH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72200" y="1536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Gap: $18.2M  |  POPS-C: 58%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80760" y="1883664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72200" y="19202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Izmir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60920" y="1920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HIGH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72200" y="21579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Gap: $7.7M  |  POPS-C: 35.5%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0760" y="2505456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72200" y="25420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Istanbul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60920" y="254203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05A2B"/>
                </a:solidFill>
              </a:rPr>
              <a:t>HIGH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72200" y="27797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Gap: $6.2M  |  POPS-C: 48.4%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3127248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72200" y="31638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Adana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60920" y="31638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05A2B"/>
                </a:solidFill>
              </a:rPr>
              <a:t>MED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172200" y="34015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Gap: $6.1M  |  POPS-C: 51.7%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80760" y="3749040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172200" y="37856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Trabzon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60920" y="378561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228"/>
                </a:solidFill>
              </a:rPr>
              <a:t>MED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172200" y="40233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Gap: $2.3M  |  POPS-C: 22.8%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8" name="Text 2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📍  Ankara + Izmir + Istanbul = $32M of the $49M total gap. Deploy top performers and increase visit frequency here first.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PARTS CATEGORY PERFORMANCE — POPS-C Conversion by Category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5778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777240"/>
            <a:ext cx="2834640" cy="365760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868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1B2A"/>
                </a:solidFill>
              </a:rPr>
              <a:t>KEY FINDINGS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80760" y="1261872"/>
            <a:ext cx="26517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080760" y="1261872"/>
            <a:ext cx="73152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6"/>
          <p:cNvSpPr/>
          <p:nvPr/>
        </p:nvSpPr>
        <p:spPr>
          <a:xfrm>
            <a:off x="6181344" y="129844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🔴 Labor: Largest $19.2M gap at only 37% conversion — upsell services at every parts transaction.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80760" y="1901952"/>
            <a:ext cx="26517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80760" y="1901952"/>
            <a:ext cx="73152" cy="5669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6181344" y="193852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🔴 Hydraulics: $9.7M gap at 31% — launch targeted diagnostic campaign for DIM customers.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80760" y="2542032"/>
            <a:ext cx="26517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80760" y="2542032"/>
            <a:ext cx="73152" cy="566928"/>
          </a:xfrm>
          <a:prstGeom prst="rect">
            <a:avLst/>
          </a:prstGeom>
          <a:solidFill>
            <a:srgbClr val="F4A228"/>
          </a:solidFill>
          <a:ln/>
        </p:spPr>
      </p:sp>
      <p:sp>
        <p:nvSpPr>
          <p:cNvPr id="15" name="Text 12"/>
          <p:cNvSpPr/>
          <p:nvPr/>
        </p:nvSpPr>
        <p:spPr>
          <a:xfrm>
            <a:off x="6181344" y="257860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🟡 Filters &amp; Fluids: $6.8M gap at 41% — bundle with maintenance kits to lift conversion.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3182112"/>
            <a:ext cx="26517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80760" y="3182112"/>
            <a:ext cx="73152" cy="566928"/>
          </a:xfrm>
          <a:prstGeom prst="rect">
            <a:avLst/>
          </a:prstGeom>
          <a:solidFill>
            <a:srgbClr val="F4A228"/>
          </a:solidFill>
          <a:ln/>
        </p:spPr>
      </p:sp>
      <p:sp>
        <p:nvSpPr>
          <p:cNvPr id="18" name="Text 15"/>
          <p:cNvSpPr/>
          <p:nvPr/>
        </p:nvSpPr>
        <p:spPr>
          <a:xfrm>
            <a:off x="6181344" y="321868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🟡 Undercarriage: $4.1M gap at 45% — focus on customers with 3+ machines for bulk deals.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3822192"/>
            <a:ext cx="26517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80760" y="3822192"/>
            <a:ext cx="73152" cy="56692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1" name="Text 18"/>
          <p:cNvSpPr/>
          <p:nvPr/>
        </p:nvSpPr>
        <p:spPr>
          <a:xfrm>
            <a:off x="6181344" y="3858768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🟢 Engine &amp; Drive Train are strong converters (83-85%) — protect these relationships and expand wallet share.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3" name="Text 20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🎯  Labor + Hydraulics alone = $28.9M in recoverable revenue. Targeted campaigns in both categories could add $8–12M within 12 months.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SALESPERSON PERFORMANCE MATRIX — POPS-C vs. Revenue Gap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5778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777240"/>
            <a:ext cx="2834640" cy="365760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868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1B2A"/>
                </a:solidFill>
              </a:rPr>
              <a:t>TOP 5 BY UNTAPPED GAP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80760" y="1261872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172200" y="129844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M.Z. Adnanuzel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06640" y="1298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4A228"/>
                </a:solidFill>
              </a:rPr>
              <a:t>Account Planning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72200" y="1536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Gap: $6.7M  |  POPS-C: 57.3%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80760" y="1883664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72200" y="19202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Sami Ozdemir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06640" y="19202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Urgent Coaching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172200" y="215798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Gap: $5.9M  |  POPS-C: 14.1%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0760" y="2505456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72200" y="25420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Asli Altug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06640" y="254203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</a:rPr>
              <a:t>Urgent Coaching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72200" y="277977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Gap: $4.0M  |  POPS-C: 6.6%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3127248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72200" y="316382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M.S. Yavuz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406640" y="316382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7C7B"/>
                </a:solidFill>
              </a:rPr>
              <a:t>Account Planning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172200" y="34015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Gap: $3.3M  |  POPS-C: 61.4%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80760" y="3749040"/>
            <a:ext cx="26517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172200" y="37856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Hakan Kilic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06640" y="37856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05A2B"/>
                </a:solidFill>
              </a:rPr>
              <a:t>Focused Support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172200" y="402336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Gap: $2.6M  |  POPS-C: 24.6%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 3 reps with &lt;15% POPS-C manage 1,220+ customers and $14M+ in combined gap — immediate coaching intervention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SALES CHANNEL ANALYSIS — Work Order vs. Over-the-Counter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57784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9320" y="777240"/>
            <a:ext cx="2834640" cy="3383280"/>
          </a:xfrm>
          <a:prstGeom prst="rect">
            <a:avLst/>
          </a:prstGeom>
          <a:solidFill>
            <a:srgbClr val="EEF2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80760" y="868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1B2A"/>
                </a:solidFill>
              </a:rPr>
              <a:t>CHANNEL INSIGHTS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80760" y="1298448"/>
            <a:ext cx="2651760" cy="7132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8" name="Text 5"/>
          <p:cNvSpPr/>
          <p:nvPr/>
        </p:nvSpPr>
        <p:spPr>
          <a:xfrm>
            <a:off x="6172200" y="13533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Work Order Sales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72200" y="16276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28"/>
                </a:solidFill>
              </a:rPr>
              <a:t>$26.4M  (42.6%)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80760" y="2121408"/>
            <a:ext cx="2651760" cy="71323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1" name="Text 8"/>
          <p:cNvSpPr/>
          <p:nvPr/>
        </p:nvSpPr>
        <p:spPr>
          <a:xfrm>
            <a:off x="6172200" y="21762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Over-the-Counter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172200" y="24505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28"/>
                </a:solidFill>
              </a:rPr>
              <a:t>$35.6M  (57.4%)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80760" y="3108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Strategic Implication: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3401568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OTC dominance signals customers prefer buying parts independently — reinforcing the DIM conversion challenge. Labor (Work Order) growth is the highest-margin opportunity.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4279392"/>
            <a:ext cx="8595360" cy="25603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Text 13"/>
          <p:cNvSpPr/>
          <p:nvPr/>
        </p:nvSpPr>
        <p:spPr>
          <a:xfrm>
            <a:off x="320040" y="42793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A228"/>
                </a:solidFill>
              </a:rPr>
              <a:t>Channel Action: Bundle work orders with parts purchases. Every OTC sale is an opportunity to upsell a service visit.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5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🔧  Raising WO share from 43% → 55% of total sales would add ~$7.4M in higher-margin labor revenue at current sales volumes.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CUSTOMER PRIORITY TARGETING — Where to Focus Sales Resources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30352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804672"/>
            <a:ext cx="3063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804672"/>
            <a:ext cx="3063240" cy="3291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4"/>
          <p:cNvSpPr/>
          <p:nvPr/>
        </p:nvSpPr>
        <p:spPr>
          <a:xfrm>
            <a:off x="5870448" y="841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 Priority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43216" y="8412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1,550 customers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870448" y="118872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Opportunity: $51.4M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70448" y="142646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Opp &gt;$20K, POPS-C &lt;30%. Immediate rep visit, diagnosis, tailored offer.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60720" y="2039112"/>
            <a:ext cx="3063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E05A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2039112"/>
            <a:ext cx="3063240" cy="329184"/>
          </a:xfrm>
          <a:prstGeom prst="rect">
            <a:avLst/>
          </a:prstGeom>
          <a:solidFill>
            <a:srgbClr val="E05A2B"/>
          </a:solidFill>
          <a:ln/>
        </p:spPr>
      </p:sp>
      <p:sp>
        <p:nvSpPr>
          <p:cNvPr id="13" name="Text 10"/>
          <p:cNvSpPr/>
          <p:nvPr/>
        </p:nvSpPr>
        <p:spPr>
          <a:xfrm>
            <a:off x="5870448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MEDIUM Priority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43216" y="20756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2,012 customers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870448" y="242316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A2B"/>
                </a:solidFill>
              </a:rPr>
              <a:t>Opportunity: Targeted Outreach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870448" y="266090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Opp &gt;$5K, POPS-C &lt;60%. Structured account plans, quarterly reviews.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60720" y="3273552"/>
            <a:ext cx="3063240" cy="1115568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3273552"/>
            <a:ext cx="3063240" cy="329184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Text 16"/>
          <p:cNvSpPr/>
          <p:nvPr/>
        </p:nvSpPr>
        <p:spPr>
          <a:xfrm>
            <a:off x="5870448" y="3310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LOW Priority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43216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6,603 customers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870448" y="36576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7B"/>
                </a:solidFill>
              </a:rPr>
              <a:t>Opportunity: Digital Outreach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870448" y="389534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Smaller accounts. Use automated campaigns, self-service portals.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1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⚡  Allocate 70% of sales rep time to the 1,550 HIGH-priority accounts — they hold $51.4M of the $49M total gap.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5A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STRATEGIC RECOMMENDATIONS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" y="777240"/>
            <a:ext cx="4224528" cy="1965960"/>
          </a:xfrm>
          <a:prstGeom prst="rect">
            <a:avLst/>
          </a:prstGeom>
          <a:solidFill>
            <a:srgbClr val="192633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777240"/>
            <a:ext cx="530352" cy="19659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265176" y="132588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8321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</a:rPr>
              <a:t>Activate the DIM Segment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11247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⏱ 0–90 days  •  Target: +$9M  ↑ Chart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1399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Identify top 500 DIM customers by opportunity size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77824" y="1700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Deploy maintenance bundles + first-service-visit incentives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77824" y="2002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Assign dedicated rep to each account with &gt;$20K opportunity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77824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Target: DIM POPS-C 13.5% → 25% = +$9M revenue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777240"/>
            <a:ext cx="4224528" cy="1965960"/>
          </a:xfrm>
          <a:prstGeom prst="rect">
            <a:avLst/>
          </a:prstGeom>
          <a:solidFill>
            <a:srgbClr val="192633"/>
          </a:solidFill>
          <a:ln w="15240">
            <a:solidFill>
              <a:srgbClr val="E05A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777240"/>
            <a:ext cx="530352" cy="1965960"/>
          </a:xfrm>
          <a:prstGeom prst="rect">
            <a:avLst/>
          </a:prstGeom>
          <a:solidFill>
            <a:srgbClr val="E05A2B"/>
          </a:solidFill>
          <a:ln/>
        </p:spPr>
      </p:sp>
      <p:sp>
        <p:nvSpPr>
          <p:cNvPr id="15" name="Text 13"/>
          <p:cNvSpPr/>
          <p:nvPr/>
        </p:nvSpPr>
        <p:spPr>
          <a:xfrm>
            <a:off x="4718304" y="132588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30952" y="8321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5A2B"/>
                </a:solidFill>
              </a:rPr>
              <a:t>Close Hydraulics &amp; Labor Gap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30952" y="11247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⏱ 30–120 days  •  Target: +$7M  ↑ Chart 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30952" y="1399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A2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Launch Hydraulics diagnostics for all DIM machine owners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30952" y="1700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A2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Introduce preventive maintenance labor contracts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30952" y="20025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A2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Train reps: upsell one work order per OTC transaction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30952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5A2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Labor 37%→50% = +$4M; Hydraulics 31%→45% = +$2M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2880360"/>
            <a:ext cx="4224528" cy="1965960"/>
          </a:xfrm>
          <a:prstGeom prst="rect">
            <a:avLst/>
          </a:prstGeom>
          <a:solidFill>
            <a:srgbClr val="192633"/>
          </a:solidFill>
          <a:ln w="15240">
            <a:solidFill>
              <a:srgbClr val="F4A2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880360"/>
            <a:ext cx="530352" cy="1965960"/>
          </a:xfrm>
          <a:prstGeom prst="rect">
            <a:avLst/>
          </a:prstGeom>
          <a:solidFill>
            <a:srgbClr val="F4A228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" y="342900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77824" y="29352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228"/>
                </a:solidFill>
              </a:rPr>
              <a:t>Geographic Focus: Ankara &amp; Izmir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77824" y="32278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⏱ 30–60 days  •  Target: +$5M  ↑ Chart 2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7824" y="3502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28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Ankara ($18.2M gap): Assign top performers, 2× call frequency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77824" y="3803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28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Izmir (35.5% POPS-C, $12M market): Deploy dedicated team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77824" y="4105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28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Istanbul (48.4% POPS-C): Structured key account planning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77824" y="4407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28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Explore mobile service units for underserved districts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880360"/>
            <a:ext cx="4224528" cy="1965960"/>
          </a:xfrm>
          <a:prstGeom prst="rect">
            <a:avLst/>
          </a:prstGeom>
          <a:solidFill>
            <a:srgbClr val="192633"/>
          </a:solidFill>
          <a:ln w="15240">
            <a:solidFill>
              <a:srgbClr val="0E7C7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09160" y="2880360"/>
            <a:ext cx="530352" cy="196596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3" name="Text 31"/>
          <p:cNvSpPr/>
          <p:nvPr/>
        </p:nvSpPr>
        <p:spPr>
          <a:xfrm>
            <a:off x="4718304" y="3429000"/>
            <a:ext cx="530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330952" y="29352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</a:rPr>
              <a:t>Sales Force &amp; Channel Enablement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330952" y="32278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⏱ Ongoing  •  Target: +$3M  ↑ Charts 4 &amp; 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330952" y="3502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Introduce POPS-C as primary KPI in monthly rep reviews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30952" y="3803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Pair Asli Altug, Sami Ozdemir (6–14% POPS-C) with top mentors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30952" y="4105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Segment all 3,196 untagged customers to unlock hidden opportunity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330952" y="4407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7B"/>
                </a:solidFill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Bundle WO + OTC: lift WO mix from 43%→55% for margin growth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56032" y="4690872"/>
            <a:ext cx="8631936" cy="320040"/>
          </a:xfrm>
          <a:prstGeom prst="rect">
            <a:avLst/>
          </a:prstGeom>
          <a:solidFill>
            <a:srgbClr val="E05A2B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" y="46908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Combined impact of all 4 recommendations: +$15–24M in additional annual parts &amp; service revenue within 12 months.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ADDITIONAL DATA NEEDED &amp; FURTHER ANALYSES TO CONFIRM FINDINGS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34747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7772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We Still Need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25296"/>
            <a:ext cx="4160520" cy="47548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4358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8A"/>
                </a:solidFill>
              </a:rPr>
              <a:t>📊  Visit Frequency / CRM Activity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Correlate rep call cadence with POPS-C to identify if low POPS-C is a contact or a product issue.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773936"/>
            <a:ext cx="41605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79222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8A"/>
                </a:solidFill>
              </a:rPr>
              <a:t>📅  Multi-Year Trend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0116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Identify growing vs. declining accounts. Current analysis is single-year snapshot only.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322576"/>
            <a:ext cx="4160520" cy="47548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34086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8A"/>
                </a:solidFill>
              </a:rPr>
              <a:t>💰  Margin by Category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5603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Reprioritize gap categories by gross margin, not just revenue, to maximize profit impact.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41605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8950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8A"/>
                </a:solidFill>
              </a:rPr>
              <a:t>🏭  Machine Age &amp; Model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31089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Predict parts demand windows. Older machines = higher maintenance need = proactive outreach trigger.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419856"/>
            <a:ext cx="4160520" cy="475488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4381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8A"/>
                </a:solidFill>
              </a:rPr>
              <a:t>🌐  Competitor Intelligence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65760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Izmir (35.5% POPS-C) may indicate competitor pricing pressure. Price benchmarking needed.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968496"/>
            <a:ext cx="416052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98678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4F8A"/>
                </a:solidFill>
              </a:rPr>
              <a:t>📋  Lost Order Reasons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206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Survey customers who buy 0 labor — is it price, convenience, or capability?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777240"/>
            <a:ext cx="4251960" cy="347472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7772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Further Analyses to Validate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1225296"/>
            <a:ext cx="42519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126187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📈  Cohort / Vintage Analysis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15087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Track POPS-C over customer tenure. Do newer customers convert better? Are legacy DIM customers recoverable?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17720" y="1883664"/>
            <a:ext cx="42519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192024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🤖  Churn Prediction Model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216712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Identify DIFM/WWM customers at risk of reverting to DIM using historical behavioral signals.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2542032"/>
            <a:ext cx="42519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9160" y="257860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🗺  Geo-Spatial Clustering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28254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Map customer locations to optimize rep territory routing and identify underserved zones.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3200400"/>
            <a:ext cx="42519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9160" y="323697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📦  Basket / Cross-Sell Analysis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09160" y="348386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Which parts are bought together? Build bundles to increase average order value per transaction.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17720" y="3858768"/>
            <a:ext cx="425196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09160" y="389534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🔍  Opportunity Algorithm Audit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09160" y="414223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Structural/Other shows &gt;100% POPS-C — likely a model calibration issue. Audit inputs for accuracy.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With CRM + margin + trend data, POPS-C improvement targets can be validated to ±5% precision and tailored by machine type and region.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5A2B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-1097280"/>
            <a:ext cx="5486400" cy="5486400"/>
          </a:xfrm>
          <a:prstGeom prst="ellipse">
            <a:avLst/>
          </a:prstGeom>
          <a:solidFill>
            <a:srgbClr val="1B4F8A">
              <a:alpha val="18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3200400"/>
            <a:ext cx="4572000" cy="4572000"/>
          </a:xfrm>
          <a:prstGeom prst="ellipse">
            <a:avLst/>
          </a:prstGeom>
          <a:solidFill>
            <a:srgbClr val="0E7C7B">
              <a:alpha val="15000"/>
            </a:srgbClr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05A2B"/>
                </a:solidFill>
              </a:rPr>
              <a:t>THE BOTTOM 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$49 million is sitting on the table.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The data is clear: structured targeting of the DIM segment, closing the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Hydraulics and Labor gaps, focusing geographic resources on Ankara and Izmir,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and empowering underperforming sales reps can realistically capture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</a:rPr>
              <a:t>$15–24M of that opportunity within the next 12 months.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3858768"/>
            <a:ext cx="1938528" cy="822960"/>
          </a:xfrm>
          <a:prstGeom prst="rect">
            <a:avLst/>
          </a:prstGeom>
          <a:solidFill>
            <a:srgbClr val="E05A2B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8620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01. Target DIM Segment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28"/>
                </a:solidFill>
              </a:rPr>
              <a:t>+$9M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06040" y="3858768"/>
            <a:ext cx="1938528" cy="822960"/>
          </a:xfrm>
          <a:prstGeom prst="rect">
            <a:avLst/>
          </a:prstGeom>
          <a:solidFill>
            <a:srgbClr val="1B4F8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388620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02. Labor &amp; Hydraulics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425196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28"/>
                </a:solidFill>
              </a:rPr>
              <a:t>+$7M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3858768"/>
            <a:ext cx="1938528" cy="822960"/>
          </a:xfrm>
          <a:prstGeom prst="rect">
            <a:avLst/>
          </a:prstGeom>
          <a:solidFill>
            <a:srgbClr val="1B4F8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88620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03. Ankara + Izmir Push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425196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28"/>
                </a:solidFill>
              </a:rPr>
              <a:t>+$5M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903720" y="3858768"/>
            <a:ext cx="1938528" cy="822960"/>
          </a:xfrm>
          <a:prstGeom prst="rect">
            <a:avLst/>
          </a:prstGeom>
          <a:solidFill>
            <a:srgbClr val="1B4F8A"/>
          </a:solidFill>
          <a:ln w="635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88620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04. Enable Sales Force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03720" y="4251960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28"/>
                </a:solidFill>
              </a:rPr>
              <a:t>+$3M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Parts &amp; Service Growth Strategy</dc:title>
  <dc:subject>PptxGenJS Presentation</dc:subject>
  <dc:creator>PptxGenJS</dc:creator>
  <cp:lastModifiedBy>PptxGenJS</cp:lastModifiedBy>
  <cp:revision>1</cp:revision>
  <dcterms:created xsi:type="dcterms:W3CDTF">2026-03-06T19:37:08Z</dcterms:created>
  <dcterms:modified xsi:type="dcterms:W3CDTF">2026-03-06T19:37:08Z</dcterms:modified>
</cp:coreProperties>
</file>